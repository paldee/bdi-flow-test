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281" r:id="rId4"/>
    <p:sldId id="268" r:id="rId5"/>
    <p:sldId id="282" r:id="rId6"/>
    <p:sldId id="267" r:id="rId7"/>
    <p:sldId id="283" r:id="rId8"/>
    <p:sldId id="284" r:id="rId9"/>
    <p:sldId id="257" r:id="rId10"/>
    <p:sldId id="258" r:id="rId11"/>
    <p:sldId id="259" r:id="rId12"/>
    <p:sldId id="271" r:id="rId13"/>
    <p:sldId id="280" r:id="rId14"/>
    <p:sldId id="270" r:id="rId15"/>
    <p:sldId id="260" r:id="rId16"/>
    <p:sldId id="264" r:id="rId17"/>
    <p:sldId id="26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2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69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393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48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BDI Hackathon 2026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Living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87436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</a:rPr>
              <a:t>สถาบันข้อมูลขนาดใหญ่ (BDI)  |  วิทยาลัยการคอมพิวเตอร์ มหาวิทยาลัยขอนแก่น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4899"/>
                </a:solidFill>
              </a:rPr>
              <a:t>ข้อมูล Phenome 2 ชุด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13800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5586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650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330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1: การระบุลักษณะเฉพาะ (Pattern) ของสารเคมีในตัวอย่างตรวจ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920240" y="1680000"/>
            <a:ext cx="64008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ระบุรูปแบบของสารประกอบ เช่น กลูโคส จากค่าความเข้มข้นของสัญญาณ 20,000 ตำแหน่ง/ตัวอย่าง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ข้อมูล: ตาราง 20,000 คอลัมน์ + ระบุชนิด/ตำแหน่งสาร + Public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โจทย์: จำแนกรูปแบบสารแม่นยำ + เสนอ Workflow ประยุกต์ใช้งานอนาคต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900000"/>
            <a:ext cx="8046720" cy="13800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3269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3614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3041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2: เบาหวาน &amp; ความดันโลหิตสูง vs. กลุ่มควบคุมสุขภาพปกติ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920240" y="3391280"/>
            <a:ext cx="64008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สัญญาณ 20,000 ตำแหน่ง + ข้อมูลกายภาพ (อายุ น้ำหนัก ส่วนสูง) + ระบุชนิดสารเบื้องต้น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ข้อมูล: ตาราง &gt; 20,000 คอลัมน์ พร้อมผลการวินิจฉัย + Public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โจทย์: ระบุ Biomarker จำนวนน้อยที่สุดที่วินิจฉัยแม่นยำ + Predictive Model + เปรียบเทียบงานวิจัยในอดีต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20,000 ตำแหน่ง / ตัวอย่าง  |  Pattern Recognition &amp; Biomarker Discovery  |  Predictive Modeling</a:t>
            </a:r>
            <a:endParaRPr lang="en-US" sz="13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202FB2F-013F-71D9-8FFE-9A571D038A72}"/>
              </a:ext>
            </a:extLst>
          </p:cNvPr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Intelligent Living Track 1: Phenome Datasets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1: วิทยากร — Phenome</a:t>
            </a:r>
            <a:endParaRPr lang="en-US" sz="2200" dirty="0"/>
          </a:p>
        </p:txBody>
      </p:sp>
      <p:sp>
        <p:nvSpPr>
          <p:cNvPr id="4" name="Subtitle"/>
          <p:cNvSpPr/>
          <p:nvPr/>
        </p:nvSpPr>
        <p:spPr>
          <a:xfrm>
            <a:off x="548640" y="790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C4899"/>
                </a:solidFill>
              </a:rPr>
              <a:t>สถาบันฟีโนมแห่งชาติ (National Phenome Institute - Thailand)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48640" y="1305000"/>
            <a:ext cx="8046720" cy="16400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ar"/>
          <p:cNvSpPr/>
          <p:nvPr/>
        </p:nvSpPr>
        <p:spPr>
          <a:xfrm>
            <a:off x="548640" y="1305000"/>
            <a:ext cx="64008" cy="16400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ircle"/>
          <p:cNvSpPr/>
          <p:nvPr/>
        </p:nvSpPr>
        <p:spPr>
          <a:xfrm>
            <a:off x="748640" y="1855000"/>
            <a:ext cx="540000" cy="5400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Num"/>
          <p:cNvSpPr/>
          <p:nvPr/>
        </p:nvSpPr>
        <p:spPr>
          <a:xfrm>
            <a:off x="748640" y="1855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700" dirty="0"/>
          </a:p>
        </p:txBody>
      </p:sp>
      <p:sp>
        <p:nvSpPr>
          <p:cNvPr id="14" name="Txt"/>
          <p:cNvSpPr/>
          <p:nvPr/>
        </p:nvSpPr>
        <p:spPr>
          <a:xfrm>
            <a:off x="1508640" y="1465000"/>
            <a:ext cx="69067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ผศ.ดร.จุฑารพ เพชระบูรณิน</a:t>
            </a:r>
          </a:p>
        </p:txBody>
      </p:sp>
      <p:sp>
        <p:nvSpPr>
          <p:cNvPr id="15" name="Txt"/>
          <p:cNvSpPr/>
          <p:nvPr/>
        </p:nvSpPr>
        <p:spPr>
          <a:xfrm>
            <a:off x="1508640" y="1865000"/>
            <a:ext cx="6906720" cy="9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b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ผู้อำนวยการสถาบันฟีโนมแห่งชาติ มหาวิทยาลัยขอนแก่น</a:t>
            </a:r>
          </a:p>
        </p:txBody>
      </p:sp>
      <p:sp>
        <p:nvSpPr>
          <p:cNvPr id="16" name="Card"/>
          <p:cNvSpPr/>
          <p:nvPr/>
        </p:nvSpPr>
        <p:spPr>
          <a:xfrm>
            <a:off x="548640" y="3265000"/>
            <a:ext cx="8046720" cy="16400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Bar"/>
          <p:cNvSpPr/>
          <p:nvPr/>
        </p:nvSpPr>
        <p:spPr>
          <a:xfrm>
            <a:off x="548640" y="3265000"/>
            <a:ext cx="64008" cy="16400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Circle"/>
          <p:cNvSpPr/>
          <p:nvPr/>
        </p:nvSpPr>
        <p:spPr>
          <a:xfrm>
            <a:off x="748640" y="3815000"/>
            <a:ext cx="540000" cy="5400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Num"/>
          <p:cNvSpPr/>
          <p:nvPr/>
        </p:nvSpPr>
        <p:spPr>
          <a:xfrm>
            <a:off x="748640" y="3815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700" dirty="0"/>
          </a:p>
        </p:txBody>
      </p:sp>
      <p:sp>
        <p:nvSpPr>
          <p:cNvPr id="20" name="Txt"/>
          <p:cNvSpPr/>
          <p:nvPr/>
        </p:nvSpPr>
        <p:spPr>
          <a:xfrm>
            <a:off x="1508640" y="3425000"/>
            <a:ext cx="69067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ดร.กรวิชญ์ โอภาสเสถียร</a:t>
            </a:r>
          </a:p>
        </p:txBody>
      </p:sp>
      <p:sp>
        <p:nvSpPr>
          <p:cNvPr id="21" name="Txt"/>
          <p:cNvSpPr/>
          <p:nvPr/>
        </p:nvSpPr>
        <p:spPr>
          <a:xfrm>
            <a:off x="1508640" y="3825000"/>
            <a:ext cx="6906720" cy="9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b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นักวิชาการวิจัยประจำ สถาบันฟีโนมแห่งชาติ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Intelligent Living Track 2: Health Datasets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</a:rPr>
              <a:t>ข้อมูลสุขภาพ 3 ประเภท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371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(ความดันโลหิตสูง)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920240" y="1554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ผู้ป่วยรวมประมาณ 130,000 คน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โจทย์: Cohort Analysis, Risk Stratification, การพยากรณ์ความเสี่ยง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48840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3317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Mellitus (DM) เบาหวาน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920240" y="2514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Type 1 ~2,000  |  Type 2 ~50,000  |  Unknown ~20,000  รวม ~70,000 คน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โจทย์: จำแนกประเภท แนะนำการรักษา ติดตามผลลัพธ์ทางคลินิก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85800" y="3200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2918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3154680"/>
            <a:ext cx="57345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Ventilator Wave Data (ข้อมูลคลื่นเครื่องช่วยหายใจ)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920240" y="3474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เก็บจาก 7-8 เตียง วันละ 24 ช่วง (1 ช่วง/ชั่วโมง) ต่อเนื่อง 2-3 สัปดาห์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โจทย์: วิเคราะห์รูปแบบคลื่น ตรวจจับความผิดปกติ ช่วยตัดสินใจทางคลินิก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เจ้าของข้อมูล: โรงพยาบาลศรีนครินทร์ มข.  |  Auto Retrieve Program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2: วิทยากร — Health &amp; EMR</a:t>
            </a:r>
            <a:endParaRPr lang="en-US" sz="2200" dirty="0"/>
          </a:p>
        </p:txBody>
      </p:sp>
      <p:sp>
        <p:nvSpPr>
          <p:cNvPr id="4" name="Subtitle"/>
          <p:cNvSpPr/>
          <p:nvPr/>
        </p:nvSpPr>
        <p:spPr>
          <a:xfrm>
            <a:off x="548640" y="790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</a:rPr>
              <a:t>คณะแพทยศาสตร์ มหาวิทยาลัยขอนแก่น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48640" y="1230000"/>
            <a:ext cx="8046720" cy="10800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ar"/>
          <p:cNvSpPr/>
          <p:nvPr/>
        </p:nvSpPr>
        <p:spPr>
          <a:xfrm>
            <a:off x="548640" y="1230000"/>
            <a:ext cx="64008" cy="1080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ircle"/>
          <p:cNvSpPr/>
          <p:nvPr/>
        </p:nvSpPr>
        <p:spPr>
          <a:xfrm>
            <a:off x="748640" y="1500000"/>
            <a:ext cx="540000" cy="5400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Num"/>
          <p:cNvSpPr/>
          <p:nvPr/>
        </p:nvSpPr>
        <p:spPr>
          <a:xfrm>
            <a:off x="748640" y="1500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700" dirty="0"/>
          </a:p>
        </p:txBody>
      </p:sp>
      <p:sp>
        <p:nvSpPr>
          <p:cNvPr id="14" name="Txt"/>
          <p:cNvSpPr/>
          <p:nvPr/>
        </p:nvSpPr>
        <p:spPr>
          <a:xfrm>
            <a:off x="1508640" y="1390000"/>
            <a:ext cx="69067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รศ.นพ.อนุพล พาณิชย์โชติ</a:t>
            </a:r>
          </a:p>
        </p:txBody>
      </p:sp>
      <p:sp>
        <p:nvSpPr>
          <p:cNvPr id="15" name="Txt"/>
          <p:cNvSpPr/>
          <p:nvPr/>
        </p:nvSpPr>
        <p:spPr>
          <a:xfrm>
            <a:off x="1508640" y="1790000"/>
            <a:ext cx="69067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b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ผู้ช่วยฝ่ายวิจัยและนวัตกรรม (ด้านวิทยาการข้อมูล)</a:t>
            </a:r>
          </a:p>
        </p:txBody>
      </p:sp>
      <p:sp>
        <p:nvSpPr>
          <p:cNvPr id="16" name="Card"/>
          <p:cNvSpPr/>
          <p:nvPr/>
        </p:nvSpPr>
        <p:spPr>
          <a:xfrm>
            <a:off x="548640" y="2565000"/>
            <a:ext cx="8046720" cy="10800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Bar"/>
          <p:cNvSpPr/>
          <p:nvPr/>
        </p:nvSpPr>
        <p:spPr>
          <a:xfrm>
            <a:off x="548640" y="2565000"/>
            <a:ext cx="64008" cy="1080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Circle"/>
          <p:cNvSpPr/>
          <p:nvPr/>
        </p:nvSpPr>
        <p:spPr>
          <a:xfrm>
            <a:off x="748640" y="2835000"/>
            <a:ext cx="540000" cy="5400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Num"/>
          <p:cNvSpPr/>
          <p:nvPr/>
        </p:nvSpPr>
        <p:spPr>
          <a:xfrm>
            <a:off x="748640" y="2835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700" dirty="0"/>
          </a:p>
        </p:txBody>
      </p:sp>
      <p:sp>
        <p:nvSpPr>
          <p:cNvPr id="20" name="Txt"/>
          <p:cNvSpPr/>
          <p:nvPr/>
        </p:nvSpPr>
        <p:spPr>
          <a:xfrm>
            <a:off x="1508640" y="2725000"/>
            <a:ext cx="69067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อ.นพ.อนวัช รัชธร</a:t>
            </a:r>
          </a:p>
        </p:txBody>
      </p:sp>
      <p:sp>
        <p:nvSpPr>
          <p:cNvPr id="21" name="Txt"/>
          <p:cNvSpPr/>
          <p:nvPr/>
        </p:nvSpPr>
        <p:spPr>
          <a:xfrm>
            <a:off x="1508640" y="3125000"/>
            <a:ext cx="69067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b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อาจารย์ประจำหลักสูตรวิทยาศาสตรมหาบัณฑิต สาขาวิทยาการข้อมูลและสารสนเทศสุขภาพ</a:t>
            </a:r>
          </a:p>
          <a:p>
            <a:pPr marL="0" indent="0">
              <a:buNone/>
            </a:pPr>
            <a:r>
              <a:rPr lang="th-TH" sz="1100" b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Science and Health Informatics) คณะแพทยศาสตร์ มข.</a:t>
            </a:r>
          </a:p>
        </p:txBody>
      </p:sp>
      <p:sp>
        <p:nvSpPr>
          <p:cNvPr id="22" name="Card"/>
          <p:cNvSpPr/>
          <p:nvPr/>
        </p:nvSpPr>
        <p:spPr>
          <a:xfrm>
            <a:off x="548640" y="3900000"/>
            <a:ext cx="8046720" cy="10800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Bar"/>
          <p:cNvSpPr/>
          <p:nvPr/>
        </p:nvSpPr>
        <p:spPr>
          <a:xfrm>
            <a:off x="548640" y="3900000"/>
            <a:ext cx="64008" cy="1080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Circle"/>
          <p:cNvSpPr/>
          <p:nvPr/>
        </p:nvSpPr>
        <p:spPr>
          <a:xfrm>
            <a:off x="748640" y="4170000"/>
            <a:ext cx="540000" cy="5400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Num"/>
          <p:cNvSpPr/>
          <p:nvPr/>
        </p:nvSpPr>
        <p:spPr>
          <a:xfrm>
            <a:off x="748640" y="4170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700" dirty="0"/>
          </a:p>
        </p:txBody>
      </p:sp>
      <p:sp>
        <p:nvSpPr>
          <p:cNvPr id="26" name="Txt"/>
          <p:cNvSpPr/>
          <p:nvPr/>
        </p:nvSpPr>
        <p:spPr>
          <a:xfrm>
            <a:off x="1508640" y="4060000"/>
            <a:ext cx="69067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อ.ดร.ศุภโชค สอนศิลพงศ์</a:t>
            </a:r>
          </a:p>
        </p:txBody>
      </p:sp>
      <p:sp>
        <p:nvSpPr>
          <p:cNvPr id="27" name="Txt"/>
          <p:cNvSpPr/>
          <p:nvPr/>
        </p:nvSpPr>
        <p:spPr>
          <a:xfrm>
            <a:off x="1508640" y="4460000"/>
            <a:ext cx="69067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b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อาจารย์ประจำหลักสูตรวิทยาศาสตรมหาบัณฑิต สาขาวิทยาการข้อมูลและสารสนเทศสุขภาพ</a:t>
            </a:r>
          </a:p>
          <a:p>
            <a:pPr marL="0" indent="0">
              <a:buNone/>
            </a:pPr>
            <a:r>
              <a:rPr lang="th-TH" sz="1100" b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Science and Health Informatics) คณะแพทยศาสตร์ มข.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Intelligent Living Track 3: City Datasets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</a:rPr>
              <a:t>ข้อมูลเมืองอัจฉริยะ 3 ประเภทหลัก + แหล่งเพิ่มเติม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1195257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1286697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378137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124097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กล้องถ่ายภาพการจราจร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920240" y="1561017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ภาพถ่ายจากกล้องตรวจการจราจรในเมือง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โจทย์: นับยานพาหนะแบบไม่ซ้ำ (Unique Vehicle Counting)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155377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85800" y="2246817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338257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220109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 ข้อมูล 3 มิติของเมือง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920240" y="2521137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ข้อมูลแบบ 3D Scan ครอบคลุมพื้นที่เมือง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โจทย์: บริหารจัดการเมือง วางผังเมือง วิเคราะห์โครงสร้างพื้นฐาน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115497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85800" y="3206937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298377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20240" y="3161217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ข้อมูลเพิ่มเติม / Additional Data Sources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920240" y="3481257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Complaints ~40,000 records (</a:t>
            </a:r>
            <a:r>
              <a:rPr lang="en-US" sz="1100" dirty="0" err="1">
                <a:solidFill>
                  <a:srgbClr val="94A3B8"/>
                </a:solidFill>
              </a:rPr>
              <a:t>เทศบาลนครขอนแก่น</a:t>
            </a:r>
            <a:r>
              <a:rPr lang="en-US" sz="1100" dirty="0">
                <a:solidFill>
                  <a:srgbClr val="94A3B8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3: วิทยากร — Smart City</a:t>
            </a:r>
            <a:endParaRPr lang="en-US" sz="2200" dirty="0"/>
          </a:p>
        </p:txBody>
      </p:sp>
      <p:sp>
        <p:nvSpPr>
          <p:cNvPr id="4" name="Subtitle"/>
          <p:cNvSpPr/>
          <p:nvPr/>
        </p:nvSpPr>
        <p:spPr>
          <a:xfrm>
            <a:off x="548640" y="790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</a:rPr>
              <a:t>ขอนแก่นพัฒนาเมือง  |  Smart City Operation Center (SCOPC) มข.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48640" y="1305000"/>
            <a:ext cx="8046720" cy="16400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ar"/>
          <p:cNvSpPr/>
          <p:nvPr/>
        </p:nvSpPr>
        <p:spPr>
          <a:xfrm>
            <a:off x="548640" y="1305000"/>
            <a:ext cx="64008" cy="1640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ircle"/>
          <p:cNvSpPr/>
          <p:nvPr/>
        </p:nvSpPr>
        <p:spPr>
          <a:xfrm>
            <a:off x="748640" y="1855000"/>
            <a:ext cx="540000" cy="5400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Num"/>
          <p:cNvSpPr/>
          <p:nvPr/>
        </p:nvSpPr>
        <p:spPr>
          <a:xfrm>
            <a:off x="748640" y="1855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700" dirty="0"/>
          </a:p>
        </p:txBody>
      </p:sp>
      <p:sp>
        <p:nvSpPr>
          <p:cNvPr id="14" name="Txt"/>
          <p:cNvSpPr/>
          <p:nvPr/>
        </p:nvSpPr>
        <p:spPr>
          <a:xfrm>
            <a:off x="1508640" y="1465000"/>
            <a:ext cx="69067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ดร.กังวาน เหล่าวิโรจนกุล</a:t>
            </a:r>
          </a:p>
        </p:txBody>
      </p:sp>
      <p:sp>
        <p:nvSpPr>
          <p:cNvPr id="15" name="Txt"/>
          <p:cNvSpPr/>
          <p:nvPr/>
        </p:nvSpPr>
        <p:spPr>
          <a:xfrm>
            <a:off x="1508640" y="1865000"/>
            <a:ext cx="6906720" cy="9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b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บริษัท ขอนแก่นพัฒนาเมือง (เคเคทีที) จำกัด</a:t>
            </a:r>
          </a:p>
          <a:p>
            <a:pPr marL="0" indent="0">
              <a:buNone/>
            </a:pPr>
            <a:r>
              <a:rPr lang="th-TH" sz="1100" b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และอาจารย์วุฒิคุณ คณะนิติศาสตร์ มหาวิทยาลัยขอนแก่น</a:t>
            </a:r>
          </a:p>
        </p:txBody>
      </p:sp>
      <p:sp>
        <p:nvSpPr>
          <p:cNvPr id="16" name="Card"/>
          <p:cNvSpPr/>
          <p:nvPr/>
        </p:nvSpPr>
        <p:spPr>
          <a:xfrm>
            <a:off x="548640" y="3265000"/>
            <a:ext cx="8046720" cy="16400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Bar"/>
          <p:cNvSpPr/>
          <p:nvPr/>
        </p:nvSpPr>
        <p:spPr>
          <a:xfrm>
            <a:off x="548640" y="3265000"/>
            <a:ext cx="64008" cy="1640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Circle"/>
          <p:cNvSpPr/>
          <p:nvPr/>
        </p:nvSpPr>
        <p:spPr>
          <a:xfrm>
            <a:off x="748640" y="3815000"/>
            <a:ext cx="540000" cy="5400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Num"/>
          <p:cNvSpPr/>
          <p:nvPr/>
        </p:nvSpPr>
        <p:spPr>
          <a:xfrm>
            <a:off x="748640" y="3815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700" dirty="0"/>
          </a:p>
        </p:txBody>
      </p:sp>
      <p:sp>
        <p:nvSpPr>
          <p:cNvPr id="20" name="Txt"/>
          <p:cNvSpPr/>
          <p:nvPr/>
        </p:nvSpPr>
        <p:spPr>
          <a:xfrm>
            <a:off x="1508640" y="3425000"/>
            <a:ext cx="69067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รศ.ดร.รวี หาญเผชิญ</a:t>
            </a:r>
          </a:p>
        </p:txBody>
      </p:sp>
      <p:sp>
        <p:nvSpPr>
          <p:cNvPr id="21" name="Txt"/>
          <p:cNvSpPr/>
          <p:nvPr/>
        </p:nvSpPr>
        <p:spPr>
          <a:xfrm>
            <a:off x="1508640" y="3825000"/>
            <a:ext cx="6906720" cy="9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b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อาจารย์คณะสถาปัตยกรรมศาสตร์ และนักวิจัยศูนย์ปฏิบัติการ Smart City</a:t>
            </a:r>
          </a:p>
          <a:p>
            <a:pPr marL="0" indent="0">
              <a:buNone/>
            </a:pPr>
            <a:r>
              <a:rPr lang="th-TH" sz="1100" b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(SCOPC - Smart City Operation Center) มหาวิทยาลัยขอนแก่น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ทีมผู้จัด — วิทยาลัยการคอมพิวเตอร์ มข.</a:t>
            </a:r>
            <a:endParaRPr lang="en-US" sz="2200" dirty="0"/>
          </a:p>
        </p:txBody>
      </p:sp>
      <p:sp>
        <p:nvSpPr>
          <p:cNvPr id="4" name="Subtitle"/>
          <p:cNvSpPr/>
          <p:nvPr/>
        </p:nvSpPr>
        <p:spPr>
          <a:xfrm>
            <a:off x="548640" y="790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</a:rPr>
              <a:t>College of Computing, Khon Kaen University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48640" y="1305000"/>
            <a:ext cx="8046720" cy="16400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ar"/>
          <p:cNvSpPr/>
          <p:nvPr/>
        </p:nvSpPr>
        <p:spPr>
          <a:xfrm>
            <a:off x="548640" y="1305000"/>
            <a:ext cx="64008" cy="1640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ircle"/>
          <p:cNvSpPr/>
          <p:nvPr/>
        </p:nvSpPr>
        <p:spPr>
          <a:xfrm>
            <a:off x="748640" y="1855000"/>
            <a:ext cx="540000" cy="5400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Num"/>
          <p:cNvSpPr/>
          <p:nvPr/>
        </p:nvSpPr>
        <p:spPr>
          <a:xfrm>
            <a:off x="748640" y="1855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700" dirty="0"/>
          </a:p>
        </p:txBody>
      </p:sp>
      <p:sp>
        <p:nvSpPr>
          <p:cNvPr id="14" name="Txt"/>
          <p:cNvSpPr/>
          <p:nvPr/>
        </p:nvSpPr>
        <p:spPr>
          <a:xfrm>
            <a:off x="1508640" y="1465000"/>
            <a:ext cx="69067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รศ.ดร.ชานนท์ เดชสุภา</a:t>
            </a:r>
          </a:p>
        </p:txBody>
      </p:sp>
      <p:sp>
        <p:nvSpPr>
          <p:cNvPr id="15" name="Txt"/>
          <p:cNvSpPr/>
          <p:nvPr/>
        </p:nvSpPr>
        <p:spPr>
          <a:xfrm>
            <a:off x="1508640" y="1865000"/>
            <a:ext cx="6906720" cy="9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b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รองคณบดีฝ่ายวิจัยและนวัตกรรม</a:t>
            </a:r>
          </a:p>
        </p:txBody>
      </p:sp>
      <p:sp>
        <p:nvSpPr>
          <p:cNvPr id="16" name="Card"/>
          <p:cNvSpPr/>
          <p:nvPr/>
        </p:nvSpPr>
        <p:spPr>
          <a:xfrm>
            <a:off x="548640" y="3265000"/>
            <a:ext cx="8046720" cy="16400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Bar"/>
          <p:cNvSpPr/>
          <p:nvPr/>
        </p:nvSpPr>
        <p:spPr>
          <a:xfrm>
            <a:off x="548640" y="3265000"/>
            <a:ext cx="64008" cy="1640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Circle"/>
          <p:cNvSpPr/>
          <p:nvPr/>
        </p:nvSpPr>
        <p:spPr>
          <a:xfrm>
            <a:off x="748640" y="3815000"/>
            <a:ext cx="540000" cy="5400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Num"/>
          <p:cNvSpPr/>
          <p:nvPr/>
        </p:nvSpPr>
        <p:spPr>
          <a:xfrm>
            <a:off x="748640" y="3815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700" dirty="0"/>
          </a:p>
        </p:txBody>
      </p:sp>
      <p:sp>
        <p:nvSpPr>
          <p:cNvPr id="20" name="Txt"/>
          <p:cNvSpPr/>
          <p:nvPr/>
        </p:nvSpPr>
        <p:spPr>
          <a:xfrm>
            <a:off x="1508640" y="3425000"/>
            <a:ext cx="69067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ผศ.ดร.ไพรสันต์ ผดุงเวียง</a:t>
            </a:r>
          </a:p>
        </p:txBody>
      </p:sp>
      <p:sp>
        <p:nvSpPr>
          <p:cNvPr id="21" name="Txt"/>
          <p:cNvSpPr/>
          <p:nvPr/>
        </p:nvSpPr>
        <p:spPr>
          <a:xfrm>
            <a:off x="1508640" y="3825000"/>
            <a:ext cx="6906720" cy="9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b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ประธานหลักสูตรปัญญาประดิษฐ์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ภาพรวม 4 Phase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65960" cy="5486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801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74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B6"/>
                </a:solidFill>
              </a:rPr>
              <a:t>Phase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รับสมัคร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10 เม.ย. - 3 มิ.ย.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ลงทะเบียน จับคู่ทีม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Orientation Day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ส่ง Concept Deck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06040" y="105156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606040" y="105156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28016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1874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</a:rPr>
              <a:t>Phase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0604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คัดเลือก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606040" y="2468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4 - 13 มิ.ย.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74320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ประเมิน Concept Deck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5 </a:t>
            </a:r>
            <a:r>
              <a:rPr lang="en-US" sz="1100" dirty="0" err="1">
                <a:solidFill>
                  <a:srgbClr val="475569"/>
                </a:solidFill>
              </a:rPr>
              <a:t>เกณฑ์</a:t>
            </a:r>
            <a:r>
              <a:rPr lang="en-US" sz="1100" dirty="0">
                <a:solidFill>
                  <a:srgbClr val="475569"/>
                </a:solidFill>
              </a:rPr>
              <a:t> 80 </a:t>
            </a:r>
            <a:r>
              <a:rPr lang="en-US" sz="1100" dirty="0" err="1">
                <a:solidFill>
                  <a:srgbClr val="475569"/>
                </a:solidFill>
              </a:rPr>
              <a:t>คะแนน</a:t>
            </a:r>
            <a:r>
              <a:rPr lang="th-TH" sz="1100" dirty="0">
                <a:solidFill>
                  <a:srgbClr val="475569"/>
                </a:solidFill>
              </a:rPr>
              <a:t> </a:t>
            </a:r>
            <a:r>
              <a:rPr lang="en-US" sz="1100" dirty="0">
                <a:solidFill>
                  <a:srgbClr val="475569"/>
                </a:solidFill>
              </a:rPr>
              <a:t>+ Video 20 </a:t>
            </a:r>
            <a:r>
              <a:rPr lang="en-US" sz="1100" dirty="0" err="1">
                <a:solidFill>
                  <a:srgbClr val="475569"/>
                </a:solidFill>
              </a:rPr>
              <a:t>คะแนน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475569"/>
                </a:solidFill>
              </a:rPr>
              <a:t>ระบบ</a:t>
            </a:r>
            <a:r>
              <a:rPr lang="en-US" sz="1100" dirty="0">
                <a:solidFill>
                  <a:srgbClr val="475569"/>
                </a:solidFill>
              </a:rPr>
              <a:t> 4-4-4+4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54880" y="105156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54880" y="105156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28016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54880" y="1874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Phase 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75488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เตรียมพร้อม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754880" y="2468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14 - 27 มิ.ย.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89204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14 </a:t>
            </a:r>
            <a:r>
              <a:rPr lang="en-US" sz="1100" dirty="0" err="1">
                <a:solidFill>
                  <a:srgbClr val="475569"/>
                </a:solidFill>
              </a:rPr>
              <a:t>มิ.ย</a:t>
            </a:r>
            <a:r>
              <a:rPr lang="en-US" sz="1100" dirty="0">
                <a:solidFill>
                  <a:srgbClr val="475569"/>
                </a:solidFill>
              </a:rPr>
              <a:t>. </a:t>
            </a:r>
            <a:r>
              <a:rPr lang="en-US" sz="1100" dirty="0" err="1">
                <a:solidFill>
                  <a:srgbClr val="475569"/>
                </a:solidFill>
              </a:rPr>
              <a:t>ประกาศ</a:t>
            </a:r>
            <a:r>
              <a:rPr lang="en-US" sz="1100" dirty="0">
                <a:solidFill>
                  <a:srgbClr val="475569"/>
                </a:solidFill>
              </a:rPr>
              <a:t> 14-16 ทีม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20 </a:t>
            </a:r>
            <a:r>
              <a:rPr lang="en-US" sz="1100" dirty="0" err="1">
                <a:solidFill>
                  <a:srgbClr val="475569"/>
                </a:solidFill>
              </a:rPr>
              <a:t>มิ.ย</a:t>
            </a:r>
            <a:r>
              <a:rPr lang="en-US" sz="1100" dirty="0">
                <a:solidFill>
                  <a:srgbClr val="475569"/>
                </a:solidFill>
              </a:rPr>
              <a:t>. </a:t>
            </a:r>
            <a:r>
              <a:rPr lang="en-US" sz="1100" dirty="0" err="1">
                <a:solidFill>
                  <a:srgbClr val="475569"/>
                </a:solidFill>
              </a:rPr>
              <a:t>อบรม</a:t>
            </a:r>
            <a:r>
              <a:rPr lang="en-US" sz="1100" dirty="0">
                <a:solidFill>
                  <a:srgbClr val="475569"/>
                </a:solidFill>
              </a:rPr>
              <a:t> AI Technique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27 </a:t>
            </a:r>
            <a:r>
              <a:rPr lang="en-US" sz="1100" dirty="0" err="1">
                <a:solidFill>
                  <a:srgbClr val="475569"/>
                </a:solidFill>
              </a:rPr>
              <a:t>มิ.ย</a:t>
            </a:r>
            <a:r>
              <a:rPr lang="en-US" sz="1100" dirty="0">
                <a:solidFill>
                  <a:srgbClr val="475569"/>
                </a:solidFill>
              </a:rPr>
              <a:t>. </a:t>
            </a:r>
            <a:r>
              <a:rPr lang="en-US" sz="1100" dirty="0" err="1">
                <a:solidFill>
                  <a:srgbClr val="475569"/>
                </a:solidFill>
              </a:rPr>
              <a:t>อบรมวิเคราะห์โจทย์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903720" y="105156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903720" y="105156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28016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03720" y="1874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Phase 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90372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Hackathon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903720" y="2468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3 - 5 ก.ค.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04088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แข่งขัน Onsite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Final Pitching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ตัดสินรอบชิง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B6"/>
                </a:solidFill>
              </a:rPr>
              <a:t>14-16 ทีม  |  3 Tracks  |  ชิงถ้วยพระราชทานฯ  |  เงินรางวัลรวม 100,000+ บาท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การรับสมัครและส่งผลงาน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</a:rPr>
              <a:t>Gamified Application Experience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371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ลงทะเบียน &amp; จับคู่ทีม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920240" y="1554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สมัคร 5 คน/ทีม ข้ามสถาบันได้ มีระบบ Matchmaking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เลือก Track อันดับ 1 และ 2 (Priority Choice)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61904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225334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344784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22076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Day (Online)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920240" y="25276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รับโจทย์ + Dataset ทั้ง 3 Tracks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แจก Starter Kit + Use Case ตัวอย่าง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135087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85800" y="3226527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r>
              <a:rPr lang="th-TH" sz="22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3317967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20240" y="3180807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 Concept Deck </a:t>
            </a:r>
            <a:r>
              <a:rPr lang="th-TH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ข้อเสนอโครงการ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th-TH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920240" y="3500847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Problem + Solution + Technical Plan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+ Impact + Team Profile + </a:t>
            </a:r>
            <a:r>
              <a:rPr lang="en-US" sz="1100" dirty="0" err="1">
                <a:solidFill>
                  <a:srgbClr val="94A3B8"/>
                </a:solidFill>
              </a:rPr>
              <a:t>วิดีโอ</a:t>
            </a:r>
            <a:r>
              <a:rPr lang="en-US" sz="1100" dirty="0">
                <a:solidFill>
                  <a:srgbClr val="94A3B8"/>
                </a:solidFill>
              </a:rPr>
              <a:t> </a:t>
            </a:r>
            <a:r>
              <a:rPr lang="th-TH" sz="1100" dirty="0">
                <a:solidFill>
                  <a:srgbClr val="94A3B8"/>
                </a:solidFill>
              </a:rPr>
              <a:t>3</a:t>
            </a:r>
            <a:r>
              <a:rPr lang="en-US" sz="1100" dirty="0">
                <a:solidFill>
                  <a:srgbClr val="94A3B8"/>
                </a:solidFill>
              </a:rPr>
              <a:t> นาที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382589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กำหนดส่ง: ภายใน 3 มิถุนายน 2569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</a:t>
            </a:r>
            <a:r>
              <a:rPr lang="th-TH" sz="2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ข้อเสนอโครงการ</a:t>
            </a:r>
            <a:r>
              <a:rPr lang="en-US" sz="2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100 </a:t>
            </a:r>
            <a:r>
              <a:rPr lang="en-US" sz="2800" dirty="0" err="1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คะแนน</a:t>
            </a:r>
            <a:r>
              <a:rPr lang="en-US" sz="2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(80%)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64008" cy="6858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051560"/>
            <a:ext cx="502920" cy="50292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07899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1005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ความเป็นไปได้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257800" y="1005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7B6"/>
                </a:solidFill>
              </a:rPr>
              <a:t>Feasibility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057400" y="1307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เทคนิคสมเหตุสมผล ทำ Prototype </a:t>
            </a:r>
            <a:r>
              <a:rPr lang="en-US" sz="1100" dirty="0" err="1">
                <a:solidFill>
                  <a:srgbClr val="64748B"/>
                </a:solidFill>
              </a:rPr>
              <a:t>ได้ในวัน</a:t>
            </a:r>
            <a:r>
              <a:rPr lang="th-TH" sz="1100" dirty="0">
                <a:solidFill>
                  <a:srgbClr val="64748B"/>
                </a:solidFill>
              </a:rPr>
              <a:t>งาน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17373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737360"/>
            <a:ext cx="64008" cy="6858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16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1856232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57400" y="1783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เข้าใจโจทย์และข้อมูล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257800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</a:rPr>
              <a:t>Problem &amp; Data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057400" y="20848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แก้ปัญหาตรงจุด ใช้ Dataset อย่างมีประสิทธิภาพ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251460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48640" y="2514600"/>
            <a:ext cx="64008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16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2633472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057400" y="2560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ผลกระทบต่อสังคม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257800" y="2560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Impact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2057400" y="28620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แก้ปัญหาได้จริง คุ้มค่า ขยายผลได้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48640" y="32918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548640" y="3291840"/>
            <a:ext cx="64008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6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3410712"/>
            <a:ext cx="411480" cy="4114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2057400" y="3337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ความคิดสร้างสรรค์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5257800" y="3337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Innovation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2057400" y="36393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มุมมองใหม่ ประยุกต์เทคโนโลยีแตกต่าง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48640" y="40690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548640" y="4069080"/>
            <a:ext cx="64008" cy="6858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6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8760" y="4187952"/>
            <a:ext cx="411480" cy="41148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2057400" y="4114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ความพร้อมของทีม</a:t>
            </a:r>
            <a:endParaRPr lang="en-US" sz="1500" dirty="0"/>
          </a:p>
        </p:txBody>
      </p:sp>
      <p:sp>
        <p:nvSpPr>
          <p:cNvPr id="42" name="Text 35"/>
          <p:cNvSpPr/>
          <p:nvPr/>
        </p:nvSpPr>
        <p:spPr>
          <a:xfrm>
            <a:off x="5257800" y="4114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</a:rPr>
              <a:t>Team Synergy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2057400" y="44165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บทบาทชัดเจน ทักษะผสมผสาน ข้ามศาสตร์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548640" y="4709160"/>
            <a:ext cx="2414016" cy="18288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2962656" y="4709160"/>
            <a:ext cx="2011680" cy="1828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4974336" y="4709160"/>
            <a:ext cx="1609344" cy="182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6583680" y="4709160"/>
            <a:ext cx="1207008" cy="182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7790688" y="4709160"/>
            <a:ext cx="804672" cy="1828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158E67-CB80-3547-08D3-E855E7382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54" y="0"/>
            <a:ext cx="8555692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69F138-B450-9757-36CF-CDA221470EC7}"/>
              </a:ext>
            </a:extLst>
          </p:cNvPr>
          <p:cNvSpPr txBox="1"/>
          <p:nvPr/>
        </p:nvSpPr>
        <p:spPr>
          <a:xfrm rot="16200000">
            <a:off x="-2447476" y="2440947"/>
            <a:ext cx="5143501" cy="2616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Template: </a:t>
            </a:r>
            <a:r>
              <a:rPr lang="th-TH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ข้อเสนอโครงการ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350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548640" y="228600"/>
            <a:ext cx="804672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Pitching: </a:t>
            </a:r>
            <a:r>
              <a:rPr lang="th-TH" sz="2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เล่าไอเดียใน 3 นาที</a:t>
            </a:r>
            <a:endParaRPr lang="en-US" sz="2800" dirty="0"/>
          </a:p>
        </p:txBody>
      </p:sp>
      <p:sp>
        <p:nvSpPr>
          <p:cNvPr id="4" name="Subtitle"/>
          <p:cNvSpPr/>
          <p:nvPr/>
        </p:nvSpPr>
        <p:spPr>
          <a:xfrm>
            <a:off x="548640" y="760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77B6"/>
                </a:solidFill>
              </a:rPr>
              <a:t>Recommended Pitch Deck Flow — เน้นมุมมองธุรกิจและการสื่อสารที่ทรงพลัง (วิดีโอไม่เกิน 3 นาที)</a:t>
            </a:r>
            <a:endParaRPr lang="en-US" sz="1250" dirty="0"/>
          </a:p>
        </p:txBody>
      </p:sp>
      <p:sp>
        <p:nvSpPr>
          <p:cNvPr id="20" name="Card"/>
          <p:cNvSpPr/>
          <p:nvPr/>
        </p:nvSpPr>
        <p:spPr>
          <a:xfrm>
            <a:off x="548640" y="1230000"/>
            <a:ext cx="3938904" cy="156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Bar"/>
          <p:cNvSpPr/>
          <p:nvPr/>
        </p:nvSpPr>
        <p:spPr>
          <a:xfrm>
            <a:off x="548640" y="1230000"/>
            <a:ext cx="64008" cy="1560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Circle"/>
          <p:cNvSpPr/>
          <p:nvPr/>
        </p:nvSpPr>
        <p:spPr>
          <a:xfrm>
            <a:off x="748640" y="1380000"/>
            <a:ext cx="470000" cy="4700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Num"/>
          <p:cNvSpPr/>
          <p:nvPr/>
        </p:nvSpPr>
        <p:spPr>
          <a:xfrm>
            <a:off x="748640" y="1380000"/>
            <a:ext cx="47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700" dirty="0"/>
          </a:p>
        </p:txBody>
      </p:sp>
      <p:sp>
        <p:nvSpPr>
          <p:cNvPr id="24" name="Txt"/>
          <p:cNvSpPr/>
          <p:nvPr/>
        </p:nvSpPr>
        <p:spPr>
          <a:xfrm>
            <a:off x="1388640" y="1380000"/>
            <a:ext cx="2938904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&amp; Problem</a:t>
            </a:r>
          </a:p>
        </p:txBody>
      </p:sp>
      <p:sp>
        <p:nvSpPr>
          <p:cNvPr id="25" name="Txt"/>
          <p:cNvSpPr/>
          <p:nvPr/>
        </p:nvSpPr>
        <p:spPr>
          <a:xfrm>
            <a:off x="1388640" y="1700000"/>
            <a:ext cx="2938904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ปัญหาและความสำคัญ</a:t>
            </a:r>
          </a:p>
        </p:txBody>
      </p:sp>
      <p:sp>
        <p:nvSpPr>
          <p:cNvPr id="26" name="Txt"/>
          <p:cNvSpPr/>
          <p:nvPr/>
        </p:nvSpPr>
        <p:spPr>
          <a:xfrm>
            <a:off x="768640" y="2090000"/>
            <a:ext cx="3498904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50" b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 (Pain Point) ที่เลือกแก้คืออะไร เกิดกับใคร</a:t>
            </a:r>
          </a:p>
          <a:p>
            <a:pPr marL="0" indent="0">
              <a:buNone/>
            </a:pPr>
            <a:r>
              <a:rPr lang="th-TH" sz="1050" b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User) และทำไมจึงต้องรีบแก้ในปัจจุบัน</a:t>
            </a:r>
          </a:p>
        </p:txBody>
      </p:sp>
      <p:sp>
        <p:nvSpPr>
          <p:cNvPr id="27" name="Card"/>
          <p:cNvSpPr/>
          <p:nvPr/>
        </p:nvSpPr>
        <p:spPr>
          <a:xfrm>
            <a:off x="4656456" y="1230000"/>
            <a:ext cx="3938904" cy="156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Bar"/>
          <p:cNvSpPr/>
          <p:nvPr/>
        </p:nvSpPr>
        <p:spPr>
          <a:xfrm>
            <a:off x="4656456" y="1230000"/>
            <a:ext cx="64008" cy="15600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Circle"/>
          <p:cNvSpPr/>
          <p:nvPr/>
        </p:nvSpPr>
        <p:spPr>
          <a:xfrm>
            <a:off x="4856456" y="1380000"/>
            <a:ext cx="470000" cy="4700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Num"/>
          <p:cNvSpPr/>
          <p:nvPr/>
        </p:nvSpPr>
        <p:spPr>
          <a:xfrm>
            <a:off x="4856456" y="1380000"/>
            <a:ext cx="47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700" dirty="0"/>
          </a:p>
        </p:txBody>
      </p:sp>
      <p:sp>
        <p:nvSpPr>
          <p:cNvPr id="31" name="Txt"/>
          <p:cNvSpPr/>
          <p:nvPr/>
        </p:nvSpPr>
        <p:spPr>
          <a:xfrm>
            <a:off x="5496456" y="1380000"/>
            <a:ext cx="2938904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Value Proposition</a:t>
            </a:r>
          </a:p>
        </p:txBody>
      </p:sp>
      <p:sp>
        <p:nvSpPr>
          <p:cNvPr id="32" name="Txt"/>
          <p:cNvSpPr/>
          <p:nvPr/>
        </p:nvSpPr>
        <p:spPr>
          <a:xfrm>
            <a:off x="5496456" y="1700000"/>
            <a:ext cx="2938904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แนวทางแก้ปัญหาและคุณค่าที่ส่งมอบ</a:t>
            </a:r>
          </a:p>
        </p:txBody>
      </p:sp>
      <p:sp>
        <p:nvSpPr>
          <p:cNvPr id="33" name="Txt"/>
          <p:cNvSpPr/>
          <p:nvPr/>
        </p:nvSpPr>
        <p:spPr>
          <a:xfrm>
            <a:off x="4876456" y="2090000"/>
            <a:ext cx="3498904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50" b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ไอเดียของทีมคืออะไร และเข้ามาเปลี่ยนชีวิต</a:t>
            </a:r>
          </a:p>
          <a:p>
            <a:pPr marL="0" indent="0">
              <a:buNone/>
            </a:pPr>
            <a:r>
              <a:rPr lang="th-TH" sz="1050" b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ผู้ใช้ให้ดีขึ้นกว่าเดิมอย่างไร</a:t>
            </a:r>
          </a:p>
        </p:txBody>
      </p:sp>
      <p:sp>
        <p:nvSpPr>
          <p:cNvPr id="34" name="Card"/>
          <p:cNvSpPr/>
          <p:nvPr/>
        </p:nvSpPr>
        <p:spPr>
          <a:xfrm>
            <a:off x="548640" y="2990000"/>
            <a:ext cx="3938904" cy="156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Bar"/>
          <p:cNvSpPr/>
          <p:nvPr/>
        </p:nvSpPr>
        <p:spPr>
          <a:xfrm>
            <a:off x="548640" y="2990000"/>
            <a:ext cx="64008" cy="1560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Circle"/>
          <p:cNvSpPr/>
          <p:nvPr/>
        </p:nvSpPr>
        <p:spPr>
          <a:xfrm>
            <a:off x="748640" y="3140000"/>
            <a:ext cx="470000" cy="4700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Num"/>
          <p:cNvSpPr/>
          <p:nvPr/>
        </p:nvSpPr>
        <p:spPr>
          <a:xfrm>
            <a:off x="748640" y="3140000"/>
            <a:ext cx="47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700" dirty="0"/>
          </a:p>
        </p:txBody>
      </p:sp>
      <p:sp>
        <p:nvSpPr>
          <p:cNvPr id="38" name="Txt"/>
          <p:cNvSpPr/>
          <p:nvPr/>
        </p:nvSpPr>
        <p:spPr>
          <a:xfrm>
            <a:off x="1388640" y="3140000"/>
            <a:ext cx="2938904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Viability &amp; Impact</a:t>
            </a:r>
          </a:p>
        </p:txBody>
      </p:sp>
      <p:sp>
        <p:nvSpPr>
          <p:cNvPr id="39" name="Txt"/>
          <p:cNvSpPr/>
          <p:nvPr/>
        </p:nvSpPr>
        <p:spPr>
          <a:xfrm>
            <a:off x="1388640" y="3460000"/>
            <a:ext cx="2938904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ผลลัพธ์และความคุ้มค่า</a:t>
            </a:r>
          </a:p>
        </p:txBody>
      </p:sp>
      <p:sp>
        <p:nvSpPr>
          <p:cNvPr id="40" name="Txt"/>
          <p:cNvSpPr/>
          <p:nvPr/>
        </p:nvSpPr>
        <p:spPr>
          <a:xfrm>
            <a:off x="768640" y="3850000"/>
            <a:ext cx="3498904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50" b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ทำไมต้องเลือกทำไอเดียนี้ ก้าวแรกลงมือทำจริง</a:t>
            </a:r>
          </a:p>
          <a:p>
            <a:pPr marL="0" indent="0">
              <a:buNone/>
            </a:pPr>
            <a:r>
              <a:rPr lang="th-TH" sz="1050" b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ได้อย่างไร และคุ้มค่าด้านใด (เซฟเงิน/เวลา/รายได้)</a:t>
            </a:r>
          </a:p>
        </p:txBody>
      </p:sp>
      <p:sp>
        <p:nvSpPr>
          <p:cNvPr id="41" name="Card"/>
          <p:cNvSpPr/>
          <p:nvPr/>
        </p:nvSpPr>
        <p:spPr>
          <a:xfrm>
            <a:off x="4656456" y="2990000"/>
            <a:ext cx="3938904" cy="156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Bar"/>
          <p:cNvSpPr/>
          <p:nvPr/>
        </p:nvSpPr>
        <p:spPr>
          <a:xfrm>
            <a:off x="4656456" y="2990000"/>
            <a:ext cx="64008" cy="1560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Circle"/>
          <p:cNvSpPr/>
          <p:nvPr/>
        </p:nvSpPr>
        <p:spPr>
          <a:xfrm>
            <a:off x="4856456" y="3140000"/>
            <a:ext cx="470000" cy="4700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Num"/>
          <p:cNvSpPr/>
          <p:nvPr/>
        </p:nvSpPr>
        <p:spPr>
          <a:xfrm>
            <a:off x="4856456" y="3140000"/>
            <a:ext cx="47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700" dirty="0"/>
          </a:p>
        </p:txBody>
      </p:sp>
      <p:sp>
        <p:nvSpPr>
          <p:cNvPr id="45" name="Txt"/>
          <p:cNvSpPr/>
          <p:nvPr/>
        </p:nvSpPr>
        <p:spPr>
          <a:xfrm>
            <a:off x="5496456" y="3140000"/>
            <a:ext cx="2938904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Capability &amp; Call to Action</a:t>
            </a:r>
          </a:p>
        </p:txBody>
      </p:sp>
      <p:sp>
        <p:nvSpPr>
          <p:cNvPr id="46" name="Txt"/>
          <p:cNvSpPr/>
          <p:nvPr/>
        </p:nvSpPr>
        <p:spPr>
          <a:xfrm>
            <a:off x="5496456" y="3460000"/>
            <a:ext cx="2938904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ความพร้อมของทีมและบทสรุป</a:t>
            </a:r>
          </a:p>
        </p:txBody>
      </p:sp>
      <p:sp>
        <p:nvSpPr>
          <p:cNvPr id="47" name="Txt"/>
          <p:cNvSpPr/>
          <p:nvPr/>
        </p:nvSpPr>
        <p:spPr>
          <a:xfrm>
            <a:off x="4876456" y="3850000"/>
            <a:ext cx="3498904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50" b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ทำไมต้องเป็นทีมคุณ จุดเด่นของทีมคืออะไร</a:t>
            </a:r>
          </a:p>
          <a:p>
            <a:pPr marL="0" indent="0">
              <a:buNone/>
            </a:pPr>
            <a:r>
              <a:rPr lang="th-TH" sz="1050" b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ปิดท้ายด้วยบทสรุปสร้างความประทับใจ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Video 100 </a:t>
            </a:r>
            <a:r>
              <a:rPr lang="en-US" sz="2800" dirty="0" err="1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คะแนน</a:t>
            </a:r>
            <a:r>
              <a:rPr lang="en-US" sz="2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(20%)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64008" cy="6858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051560"/>
            <a:ext cx="502920" cy="50292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17373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737360"/>
            <a:ext cx="64008" cy="6858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48640" y="251460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48640" y="2514600"/>
            <a:ext cx="64008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548640" y="32918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548640" y="3291840"/>
            <a:ext cx="64008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548640" y="40690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548640" y="4069080"/>
            <a:ext cx="64008" cy="6858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1600" dirty="0"/>
          </a:p>
        </p:txBody>
      </p:sp>
      <p:sp>
        <p:nvSpPr>
          <p:cNvPr id="44" name="Shape 37"/>
          <p:cNvSpPr/>
          <p:nvPr/>
        </p:nvSpPr>
        <p:spPr>
          <a:xfrm>
            <a:off x="548640" y="4709160"/>
            <a:ext cx="2414016" cy="18288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2962656" y="4709160"/>
            <a:ext cx="2011680" cy="1828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4974336" y="4709160"/>
            <a:ext cx="1609344" cy="182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6583680" y="4709160"/>
            <a:ext cx="1207008" cy="182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7790688" y="4709160"/>
            <a:ext cx="804672" cy="1828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itle 100"/>
          <p:cNvSpPr/>
          <p:nvPr/>
        </p:nvSpPr>
        <p:spPr>
          <a:xfrm>
            <a:off x="1508760" y="1005840"/>
            <a:ext cx="69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Customer Insight</a:t>
            </a:r>
            <a:endParaRPr lang="en-US" sz="1500" b="1" dirty="0"/>
          </a:p>
        </p:txBody>
      </p:sp>
      <p:sp>
        <p:nvSpPr>
          <p:cNvPr id="101" name="Desc 101"/>
          <p:cNvSpPr/>
          <p:nvPr/>
        </p:nvSpPr>
        <p:spPr>
          <a:xfrm>
            <a:off x="1508760" y="1307592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100" dirty="0">
                <a:solidFill>
                  <a:srgbClr val="64748B"/>
                </a:solidFill>
              </a:rPr>
              <a:t>ทีมเข้าใจปัญหาและกลุ่มเป้าหมายลึกซึ้งแค่ไหน</a:t>
            </a:r>
            <a:endParaRPr lang="en-US" sz="1100" dirty="0"/>
          </a:p>
        </p:txBody>
      </p:sp>
      <p:sp>
        <p:nvSpPr>
          <p:cNvPr id="102" name="Title 102"/>
          <p:cNvSpPr/>
          <p:nvPr/>
        </p:nvSpPr>
        <p:spPr>
          <a:xfrm>
            <a:off x="1508760" y="1783080"/>
            <a:ext cx="69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Value Proposition</a:t>
            </a:r>
            <a:endParaRPr lang="en-US" sz="1500" b="1" dirty="0"/>
          </a:p>
        </p:txBody>
      </p:sp>
      <p:sp>
        <p:nvSpPr>
          <p:cNvPr id="103" name="Desc 103"/>
          <p:cNvSpPr/>
          <p:nvPr/>
        </p:nvSpPr>
        <p:spPr>
          <a:xfrm>
            <a:off x="1508760" y="2084832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100" dirty="0">
                <a:solidFill>
                  <a:srgbClr val="64748B"/>
                </a:solidFill>
              </a:rPr>
              <a:t>ไอเดียตอบโจทย์ และสร้างคุณค่า / ความหมายใหม่ให้กับผู้ใช้</a:t>
            </a:r>
            <a:endParaRPr lang="en-US" sz="1100" dirty="0"/>
          </a:p>
        </p:txBody>
      </p:sp>
      <p:sp>
        <p:nvSpPr>
          <p:cNvPr id="104" name="Title 104"/>
          <p:cNvSpPr/>
          <p:nvPr/>
        </p:nvSpPr>
        <p:spPr>
          <a:xfrm>
            <a:off x="1508760" y="2560320"/>
            <a:ext cx="69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Viability &amp; Impact</a:t>
            </a:r>
            <a:endParaRPr lang="en-US" sz="1500" b="1" dirty="0"/>
          </a:p>
        </p:txBody>
      </p:sp>
      <p:sp>
        <p:nvSpPr>
          <p:cNvPr id="105" name="Desc 105"/>
          <p:cNvSpPr/>
          <p:nvPr/>
        </p:nvSpPr>
        <p:spPr>
          <a:xfrm>
            <a:off x="1508760" y="2862072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100" dirty="0">
                <a:solidFill>
                  <a:srgbClr val="64748B"/>
                </a:solidFill>
              </a:rPr>
              <a:t>ความเป็นไปได้ในการทำจริง และผลกระทบ / ความคุ้มค่าที่เกิดขึ้น</a:t>
            </a:r>
            <a:endParaRPr lang="en-US" sz="1100" dirty="0"/>
          </a:p>
        </p:txBody>
      </p:sp>
      <p:sp>
        <p:nvSpPr>
          <p:cNvPr id="106" name="Title 106"/>
          <p:cNvSpPr/>
          <p:nvPr/>
        </p:nvSpPr>
        <p:spPr>
          <a:xfrm>
            <a:off x="1508760" y="3337560"/>
            <a:ext cx="69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Capability</a:t>
            </a:r>
            <a:endParaRPr lang="en-US" sz="1500" b="1" dirty="0"/>
          </a:p>
        </p:txBody>
      </p:sp>
      <p:sp>
        <p:nvSpPr>
          <p:cNvPr id="107" name="Desc 107"/>
          <p:cNvSpPr/>
          <p:nvPr/>
        </p:nvSpPr>
        <p:spPr>
          <a:xfrm>
            <a:off x="1508760" y="3639312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100" dirty="0">
                <a:solidFill>
                  <a:srgbClr val="64748B"/>
                </a:solidFill>
              </a:rPr>
              <a:t>ทีมมีความเชี่ยวชาญที่จะทำให้ไอเดียนี้เกิดขึ้นจริงได้</a:t>
            </a:r>
            <a:endParaRPr lang="en-US" sz="1100" dirty="0"/>
          </a:p>
        </p:txBody>
      </p:sp>
      <p:sp>
        <p:nvSpPr>
          <p:cNvPr id="108" name="Title 108"/>
          <p:cNvSpPr/>
          <p:nvPr/>
        </p:nvSpPr>
        <p:spPr>
          <a:xfrm>
            <a:off x="1508760" y="4114800"/>
            <a:ext cx="69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Pitching Delivery &amp; Communication</a:t>
            </a:r>
            <a:endParaRPr lang="en-US" sz="1500" b="1" dirty="0"/>
          </a:p>
        </p:txBody>
      </p:sp>
      <p:sp>
        <p:nvSpPr>
          <p:cNvPr id="109" name="Desc 109"/>
          <p:cNvSpPr/>
          <p:nvPr/>
        </p:nvSpPr>
        <p:spPr>
          <a:xfrm>
            <a:off x="1508760" y="4416552"/>
            <a:ext cx="6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100" dirty="0">
                <a:solidFill>
                  <a:srgbClr val="64748B"/>
                </a:solidFill>
              </a:rPr>
              <a:t>ทักษะการเล่าเรื่องและการรักษาเวลา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73650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ระบบโควตาคัดเลือก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</a:rPr>
              <a:t>4 - 4 - 4 + 4 Wildcard = 16 ทีม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6032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56032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5087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C4899"/>
                </a:solidFill>
              </a:rPr>
              <a:t>Track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Phenome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69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DNA Sequencing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ทีม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383280" y="1280160"/>
            <a:ext cx="256032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83280" y="1280160"/>
            <a:ext cx="2560320" cy="5486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50876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B6"/>
                </a:solidFill>
              </a:rPr>
              <a:t>Track 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8328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 &amp; EMR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383280" y="269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Medical Records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38328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ทีม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217920" y="1280160"/>
            <a:ext cx="256032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217920" y="128016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508760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1792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Track 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1792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City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217920" y="269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City Data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2179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ทีม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2286000" y="3566160"/>
            <a:ext cx="45720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2286000" y="3566160"/>
            <a:ext cx="4572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379476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29184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Wildcard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329184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4 ทีม จากคะแนนสูงสุดข้าม Track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274320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รวม</a:t>
            </a: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16 ทีม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รางวัล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0" y="1005840"/>
            <a:ext cx="45720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286000" y="1005840"/>
            <a:ext cx="4572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18872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860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ชนะเลิศ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2286000" y="2194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50,000 บาท + ถ้วยพระราชทานฯ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743200"/>
            <a:ext cx="384048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48640" y="2743200"/>
            <a:ext cx="384048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4864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รองชนะเลิศอันดับ 1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30,000 บาท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754880" y="2743200"/>
            <a:ext cx="384048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754880" y="2743200"/>
            <a:ext cx="38404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75488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รองชนะเลิศอันดับ 2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75488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5CF6"/>
                </a:solidFill>
              </a:rPr>
              <a:t>20,000 บาท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48640" y="3931920"/>
            <a:ext cx="80467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690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ขวัญใจเจ้าของข้อมูล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463040" y="4343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Track ละ 1 รางวัล คัดเลือกโดยเจ้าของข้อมูลประจำ Track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4: เกณฑ์ตัดสินรอบชิง (100 คะแนน)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เปรียบเทียบข้าม Track ได้อย่างยุติธรรม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828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เกณฑ์ร่วม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</a:rPr>
              <a:t>Common Criteria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103120"/>
            <a:ext cx="329184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54864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นวัตกรรม (Innovation)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2651760"/>
            <a:ext cx="329184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2651760"/>
            <a:ext cx="54864" cy="4572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คุณภาพเทคนิค (Technical)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200400"/>
            <a:ext cx="329184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" y="320040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ผลกระทบ (Impact)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3749040"/>
            <a:ext cx="329184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2960" y="374904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156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การนำเสนอ (Pitching)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4880" y="1188720"/>
            <a:ext cx="3840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603504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เกณฑ์เฉพาะ Track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03504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</a:rPr>
              <a:t>Track-Specific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2103120"/>
            <a:ext cx="329184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29200" y="2103120"/>
            <a:ext cx="54864" cy="4572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5780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Phenome: 3 เกณฑ์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8096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29200" y="2651760"/>
            <a:ext cx="329184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29200" y="2651760"/>
            <a:ext cx="54864" cy="4572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5780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Health &amp; EMR: 3 เกณฑ์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8096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29200" y="3200400"/>
            <a:ext cx="329184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029200" y="320040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5780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Smart City: 3 เกณฑ์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8096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029200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ทุก Track เต็ม 30 เท่ากัน = เปรียบเทียบข้าม Track ได้ตรง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0" y="4709160"/>
            <a:ext cx="457200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2860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คะแนนรวม = เกณฑ์ร่วม (70) + เกณฑ์เฉพาะ Track (30) = 100 คะแนน</a:t>
            </a:r>
            <a:endParaRPr lang="en-US" sz="12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12319CA-825A-4408-F3DA-88C5DA35BE81}"/>
              </a:ext>
            </a:extLst>
          </p:cNvPr>
          <p:cNvSpPr/>
          <p:nvPr/>
        </p:nvSpPr>
        <p:spPr>
          <a:xfrm>
            <a:off x="4754880" y="4242816"/>
            <a:ext cx="3840480" cy="32918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1282</Words>
  <Application>Microsoft Office PowerPoint</Application>
  <PresentationFormat>On-screen Show (16:9)</PresentationFormat>
  <Paragraphs>242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Black</vt:lpstr>
      <vt:lpstr>Calibri</vt:lpstr>
      <vt:lpstr>Georgia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BDI Hackathon 2026 - Criteria</dc:title>
  <dc:subject>PptxGenJS Presentation</dc:subject>
  <dc:creator>BDI Hackathon 2026</dc:creator>
  <cp:lastModifiedBy>Praisan Padungweang</cp:lastModifiedBy>
  <cp:revision>19</cp:revision>
  <dcterms:created xsi:type="dcterms:W3CDTF">2026-04-08T07:08:39Z</dcterms:created>
  <dcterms:modified xsi:type="dcterms:W3CDTF">2026-05-24T05:59:15Z</dcterms:modified>
</cp:coreProperties>
</file>